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463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2A43"/>
                </a:solidFill>
                <a:latin typeface="Segoe UI"/>
              </a:defRPr>
            </a:pPr>
            <a:r>
              <a:t>CompileX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51560" cy="49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05840"/>
            <a:ext cx="107286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0C1E30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National Idea Presentation · Problem Statement ID: SIH26062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578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109728" lIns="228600" rIns="228600"/>
          <a:lstStyle/>
          <a:p>
            <a:pPr algn="l">
              <a:spcAft>
                <a:spcPts val="1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OFFICIAL REGISTRATION DETAILS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102A43"/>
                </a:solidFill>
                <a:latin typeface="Segoe UI"/>
              </a:rPr>
              <a:t>Problem Statement ID: </a:t>
            </a:r>
            <a:r>
              <a:rPr b="0" sz="1050">
                <a:solidFill>
                  <a:srgbClr val="475569"/>
                </a:solidFill>
                <a:latin typeface="Segoe UI"/>
              </a:rPr>
              <a:t>SIH26062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102A43"/>
                </a:solidFill>
                <a:latin typeface="Segoe UI"/>
              </a:rPr>
              <a:t>Problem Statement Title: </a:t>
            </a:r>
            <a:r>
              <a:rPr b="0" sz="1050">
                <a:solidFill>
                  <a:srgbClr val="475569"/>
                </a:solidFill>
                <a:latin typeface="Segoe UI"/>
              </a:rPr>
              <a:t>Integrated Polar Expedition Logistics And Asset Management System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102A43"/>
                </a:solidFill>
                <a:latin typeface="Segoe UI"/>
              </a:rPr>
              <a:t>Theme: </a:t>
            </a:r>
            <a:r>
              <a:rPr b="0" sz="1050">
                <a:solidFill>
                  <a:srgbClr val="475569"/>
                </a:solidFill>
                <a:latin typeface="Segoe UI"/>
              </a:rPr>
              <a:t>Smart Automation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102A43"/>
                </a:solidFill>
                <a:latin typeface="Segoe UI"/>
              </a:rPr>
              <a:t>PS Category: </a:t>
            </a:r>
            <a:r>
              <a:rPr b="0" sz="1050">
                <a:solidFill>
                  <a:srgbClr val="475569"/>
                </a:solidFill>
                <a:latin typeface="Segoe UI"/>
              </a:rPr>
              <a:t>Software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102A43"/>
                </a:solidFill>
                <a:latin typeface="Segoe UI"/>
              </a:rPr>
              <a:t>Team Name: </a:t>
            </a:r>
            <a:r>
              <a:rPr b="0" sz="1050">
                <a:solidFill>
                  <a:srgbClr val="475569"/>
                </a:solidFill>
                <a:latin typeface="Segoe UI"/>
              </a:rPr>
              <a:t>CompileX (Registered on Portal)</a:t>
            </a:r>
          </a:p>
          <a:p>
            <a:pPr algn="l">
              <a:spcAft>
                <a:spcPts val="800"/>
              </a:spcAft>
            </a:pPr>
            <a:r>
              <a:rPr b="1" sz="1050">
                <a:solidFill>
                  <a:srgbClr val="102A43"/>
                </a:solidFill>
                <a:latin typeface="Segoe UI"/>
              </a:rPr>
              <a:t>Team ID: </a:t>
            </a:r>
            <a:r>
              <a:rPr b="0" sz="1050">
                <a:solidFill>
                  <a:srgbClr val="475569"/>
                </a:solidFill>
                <a:latin typeface="Segoe UI"/>
              </a:rPr>
              <a:t>- (As recorded on portal)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257800" cy="365760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28600" bIns="109728" lIns="228600" rIns="228600"/>
          <a:lstStyle/>
          <a:p>
            <a:pPr algn="l">
              <a:spcAft>
                <a:spcPts val="800"/>
              </a:spcAft>
              <a:defRPr sz="1000" b="1">
                <a:solidFill>
                  <a:srgbClr val="0369A1"/>
                </a:solidFill>
                <a:latin typeface="Segoe UI"/>
              </a:defRPr>
            </a:pPr>
            <a:r>
              <a:t>PROJECT IDENTITY &amp; POSITIONING</a:t>
            </a:r>
          </a:p>
          <a:p>
            <a:pPr algn="l">
              <a:defRPr sz="2800" b="1">
                <a:solidFill>
                  <a:srgbClr val="0284C7"/>
                </a:solidFill>
                <a:latin typeface="Segoe UI"/>
              </a:defRPr>
            </a:pPr>
            <a:r>
              <a:t>POLAR-AI</a:t>
            </a:r>
          </a:p>
          <a:p>
            <a:pPr algn="l">
              <a:spcAft>
                <a:spcPts val="1200"/>
              </a:spcAft>
              <a:defRPr sz="1150" b="1">
                <a:solidFill>
                  <a:srgbClr val="0C1E30"/>
                </a:solidFill>
                <a:latin typeface="Segoe UI"/>
              </a:defRPr>
            </a:pPr>
            <a:r>
              <a:t>Polar Operations, Logistics &amp; Autonomous Resilience Intelligence</a:t>
            </a:r>
          </a:p>
          <a:p>
            <a:pPr algn="l">
              <a:spcAft>
                <a:spcPts val="1000"/>
              </a:spcAft>
            </a:pPr>
            <a:r>
              <a:rPr sz="950" b="1">
                <a:solidFill>
                  <a:srgbClr val="0284C7"/>
                </a:solidFill>
              </a:rPr>
              <a:t>CORE MISSION STATEMENT:
</a:t>
            </a:r>
            <a:r>
              <a:rPr sz="1300" b="1">
                <a:solidFill>
                  <a:srgbClr val="102A43"/>
                </a:solidFill>
              </a:rPr>
              <a:t>Mission Continuity Intelligence for Extreme Environments</a:t>
            </a:r>
          </a:p>
          <a:p>
            <a:pPr algn="l">
              <a:spcAft>
                <a:spcPts val="1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POLAR-AI transforms fragmented manifests, sensor logs, and operational records into proactive intelligence — monitoring resource runways, predicting cascading multi-tier outages, and enabling safe human decisions under extreme isolation.</a:t>
            </a:r>
          </a:p>
          <a:p>
            <a:pPr algn="l"/>
            <a:r>
              <a:rPr b="1" sz="950">
                <a:solidFill>
                  <a:srgbClr val="102A43"/>
                </a:solidFill>
              </a:rPr>
              <a:t>Dual-Theatre Architecture: </a:t>
            </a:r>
            <a:r>
              <a:rPr b="0" sz="950">
                <a:solidFill>
                  <a:srgbClr val="0369A1"/>
                </a:solidFill>
              </a:rPr>
              <a:t>Antarctica (Maitri &amp; Bharati) · Arctic (Himadri, Svalbard) · Logistics (NCPOR Goa)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344728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109728" lIns="146304" rIns="146304"/>
          <a:lstStyle/>
          <a:p>
            <a:pPr algn="l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Predictive Continuity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Dynamic 0–100% telemetry scoring &amp; shortage horizon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577840"/>
            <a:ext cx="344728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109728" lIns="146304" rIns="146304"/>
          <a:lstStyle/>
          <a:p>
            <a:pPr algn="l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What-If Simulation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Models supply delays, consumption surges, &amp; ration trade-offs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577840"/>
            <a:ext cx="344728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109728" lIns="146304" rIns="146304"/>
          <a:lstStyle/>
          <a:p>
            <a:pPr algn="l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100% Offline Autonomy</a:t>
            </a:r>
          </a:p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Local PWA storage &amp; deterministic conflict-free sync on reconnect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19088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73952"/>
            <a:ext cx="277337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COMPILEX |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3716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02A43"/>
                </a:solidFill>
                <a:latin typeface="Segoe UI"/>
              </a:defRPr>
            </a:pPr>
            <a:r>
              <a:t>CompileX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9456"/>
            <a:ext cx="1051560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731520"/>
            <a:ext cx="4264761" cy="237744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PROBLEM CONTEXT · ARCHITECTURAL INNOVATION · CORE 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728655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sz="2000" b="1">
                <a:solidFill>
                  <a:srgbClr val="0C1E30"/>
                </a:solidFill>
                <a:latin typeface="Segoe UI"/>
              </a:defRPr>
            </a:pPr>
            <a:r>
              <a:t>FROM FRAGMENTED MISSION DATA TO MISSION CONTINUITY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25603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defRPr sz="1050">
                <a:solidFill>
                  <a:srgbClr val="475569"/>
                </a:solidFill>
                <a:latin typeface="Segoe UI"/>
              </a:defRPr>
            </a:pPr>
            <a:r>
              <a:t>Bridging the critical operational gap between passive logistics tracking and proactive mission survival.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2578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defRPr sz="1050" b="1">
                <a:solidFill>
                  <a:srgbClr val="E11D48"/>
                </a:solidFill>
                <a:latin typeface="Segoe UI"/>
              </a:defRPr>
            </a:pPr>
            <a:r>
              <a:t>THE POLAR CHALLENGE: WHY PASSIVE TRACKING FAILS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257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50" b="1">
                <a:solidFill>
                  <a:srgbClr val="E11D48"/>
                </a:solidFill>
                <a:latin typeface="Segoe UI"/>
              </a:defRPr>
            </a:pPr>
            <a:r>
              <a:t>1. Fragmented Data Silos</a:t>
            </a:r>
          </a:p>
          <a:p>
            <a:pPr algn="l">
              <a:defRPr sz="830">
                <a:solidFill>
                  <a:srgbClr val="475569"/>
                </a:solidFill>
                <a:latin typeface="Segoe UI"/>
              </a:defRPr>
            </a:pPr>
            <a:r>
              <a:t>Cargo manifests, stock levels, equipment health, and rosters remain isolated across manual spreadsheets.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07208"/>
            <a:ext cx="5257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50" b="1">
                <a:solidFill>
                  <a:srgbClr val="E11D48"/>
                </a:solidFill>
                <a:latin typeface="Segoe UI"/>
              </a:defRPr>
            </a:pPr>
            <a:r>
              <a:t>2. Resupply Uncertainty</a:t>
            </a:r>
          </a:p>
          <a:p>
            <a:pPr algn="l">
              <a:defRPr sz="830">
                <a:solidFill>
                  <a:srgbClr val="475569"/>
                </a:solidFill>
                <a:latin typeface="Segoe UI"/>
              </a:defRPr>
            </a:pPr>
            <a:r>
              <a:t>8-month winter freeze-out; blizzards and pack ice cause shipping delays where consumption surges create fatal deficits.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65576"/>
            <a:ext cx="5257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50" b="1">
                <a:solidFill>
                  <a:srgbClr val="D97706"/>
                </a:solidFill>
                <a:latin typeface="Segoe UI"/>
              </a:defRPr>
            </a:pPr>
            <a:r>
              <a:t>3. Limited Operational Visibility</a:t>
            </a:r>
          </a:p>
          <a:p>
            <a:pPr algn="l">
              <a:defRPr sz="830">
                <a:solidFill>
                  <a:srgbClr val="475569"/>
                </a:solidFill>
                <a:latin typeface="Segoe UI"/>
              </a:defRPr>
            </a:pPr>
            <a:r>
              <a:t>Station commanders lack a unified cockpit to correlate incoming cargo ETA against critical station burn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23944"/>
            <a:ext cx="5257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50" b="1">
                <a:solidFill>
                  <a:srgbClr val="E11D48"/>
                </a:solidFill>
                <a:latin typeface="Segoe UI"/>
              </a:defRPr>
            </a:pPr>
            <a:r>
              <a:t>4. Cascading Dependencies</a:t>
            </a:r>
          </a:p>
          <a:p>
            <a:pPr algn="l">
              <a:defRPr sz="830">
                <a:solidFill>
                  <a:srgbClr val="475569"/>
                </a:solidFill>
                <a:latin typeface="Segoe UI"/>
              </a:defRPr>
            </a:pPr>
            <a:r>
              <a:t>Failure of one resource cascades: Fuel Deficit → Generator G-01 Trip → Station Power Loss → Heating Failure → Lab Halted.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82312"/>
            <a:ext cx="5257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50" b="1">
                <a:solidFill>
                  <a:srgbClr val="D97706"/>
                </a:solidFill>
                <a:latin typeface="Segoe UI"/>
              </a:defRPr>
            </a:pPr>
            <a:r>
              <a:t>5. Connectivity Constraints</a:t>
            </a:r>
          </a:p>
          <a:p>
            <a:pPr algn="l">
              <a:defRPr sz="830">
                <a:solidFill>
                  <a:srgbClr val="475569"/>
                </a:solidFill>
                <a:latin typeface="Segoe UI"/>
              </a:defRPr>
            </a:pPr>
            <a:r>
              <a:t>Severe polar blizzards &amp; geomagnetic interference break satellite links; field sorties operate in complete communication silence.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5257800" cy="8046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109728" lIns="128016" rIns="146304"/>
          <a:lstStyle/>
          <a:p>
            <a:pPr algn="l">
              <a:defRPr sz="950" b="1">
                <a:solidFill>
                  <a:srgbClr val="D97706"/>
                </a:solidFill>
                <a:latin typeface="Segoe UI"/>
              </a:defRPr>
            </a:pPr>
            <a:r>
              <a:t>"Knowing what changed is not enough.</a:t>
            </a:r>
            <a:br/>
            <a:r>
              <a:t>Operators need to understand what that change means for mission continuity."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847088"/>
            <a:ext cx="52578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defRPr sz="1050" b="1">
                <a:solidFill>
                  <a:srgbClr val="0284C7"/>
                </a:solidFill>
                <a:latin typeface="Segoe UI"/>
              </a:defRPr>
            </a:pPr>
            <a:r>
              <a:t>POLAR-AI SOLUTION: END-TO-END RESILIENCE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148840"/>
            <a:ext cx="5257800" cy="603504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30" b="1">
                <a:solidFill>
                  <a:srgbClr val="0284C7"/>
                </a:solidFill>
                <a:latin typeface="Segoe UI"/>
              </a:defRPr>
            </a:pPr>
            <a:r>
              <a:t>STAGE 1: UNIFIED MISSION DATA INGESTION</a:t>
            </a:r>
          </a:p>
          <a:p>
            <a:pPr algn="l">
              <a:defRPr sz="819">
                <a:solidFill>
                  <a:srgbClr val="475569"/>
                </a:solidFill>
                <a:latin typeface="Segoe UI"/>
              </a:defRPr>
            </a:pPr>
            <a:r>
              <a:t>Integrates Cargo manifests, Inventory burn-rates, Machinery wear, Personnel, &amp; Weather into a single relational state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807208"/>
            <a:ext cx="5257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30" b="1">
                <a:solidFill>
                  <a:srgbClr val="0369A1"/>
                </a:solidFill>
                <a:latin typeface="Segoe UI"/>
              </a:defRPr>
            </a:pPr>
            <a:r>
              <a:t>STAGE 2: MISSION CONTINUITY ENGINE</a:t>
            </a:r>
          </a:p>
          <a:p>
            <a:pPr algn="l">
              <a:defRPr sz="819">
                <a:solidFill>
                  <a:srgbClr val="475569"/>
                </a:solidFill>
                <a:latin typeface="Segoe UI"/>
              </a:defRPr>
            </a:pPr>
            <a:r>
              <a:t>Computes composite 0–100% continuity score, calculates days-to-stockout runway, &amp; evaluates directed dependency graph linkages.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465576"/>
            <a:ext cx="5257800" cy="603504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30" b="1">
                <a:solidFill>
                  <a:srgbClr val="0284C7"/>
                </a:solidFill>
                <a:latin typeface="Segoe UI"/>
              </a:defRPr>
            </a:pPr>
            <a:r>
              <a:t>STAGE 3: PREDICTIVE &amp; CASCADING IMPACT ANALYSIS</a:t>
            </a:r>
          </a:p>
          <a:p>
            <a:pPr algn="l">
              <a:defRPr sz="819">
                <a:solidFill>
                  <a:srgbClr val="475569"/>
                </a:solidFill>
                <a:latin typeface="Segoe UI"/>
              </a:defRPr>
            </a:pPr>
            <a:r>
              <a:t>Detects emerging risks 7–14 days ahead; explains root causes and traces multi-tier asset cascade risks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123944"/>
            <a:ext cx="5257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30" b="1">
                <a:solidFill>
                  <a:srgbClr val="0369A1"/>
                </a:solidFill>
                <a:latin typeface="Segoe UI"/>
              </a:defRPr>
            </a:pPr>
            <a:r>
              <a:t>STAGE 4: WHAT-IF SIMULATION &amp; MITIGATION OPTIONS</a:t>
            </a:r>
          </a:p>
          <a:p>
            <a:pPr algn="l">
              <a:defRPr sz="819">
                <a:solidFill>
                  <a:srgbClr val="475569"/>
                </a:solidFill>
                <a:latin typeface="Segoe UI"/>
              </a:defRPr>
            </a:pPr>
            <a:r>
              <a:t>Allows operators to test resupply delays, fuel rationing, or generator load-shedding before real-world operational execution.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782312"/>
            <a:ext cx="5257800" cy="60350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 lIns="128016" rIns="128016"/>
          <a:lstStyle/>
          <a:p>
            <a:pPr algn="l">
              <a:defRPr sz="930" b="1">
                <a:solidFill>
                  <a:srgbClr val="059669"/>
                </a:solidFill>
                <a:latin typeface="Segoe UI"/>
              </a:defRPr>
            </a:pPr>
            <a:r>
              <a:t>STAGE 5: SOVEREIGN HUMAN DECISION SUPPORT</a:t>
            </a:r>
          </a:p>
          <a:p>
            <a:pPr algn="l">
              <a:defRPr sz="819">
                <a:solidFill>
                  <a:srgbClr val="475569"/>
                </a:solidFill>
                <a:latin typeface="Segoe UI"/>
              </a:defRPr>
            </a:pPr>
            <a:r>
              <a:t>Synthesizes ranked operational mitigations; keeps sovereign human commander in absolute control (Review → Approve/Modify → Audit).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5486400"/>
            <a:ext cx="5257800" cy="804672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109728" lIns="128016" rIns="128016"/>
          <a:lstStyle/>
          <a:p>
            <a:pPr algn="l">
              <a:defRPr sz="900" b="1">
                <a:solidFill>
                  <a:srgbClr val="0369A1"/>
                </a:solidFill>
                <a:latin typeface="Segoe UI"/>
              </a:defRPr>
            </a:pPr>
            <a:r>
              <a:t>CORE USP — MISSION CONTINUITY INTELLIGENCE</a:t>
            </a:r>
          </a:p>
          <a:p>
            <a:pPr algn="l">
              <a:defRPr sz="950" b="1">
                <a:solidFill>
                  <a:srgbClr val="102A43"/>
                </a:solidFill>
                <a:latin typeface="Segoe UI"/>
              </a:defRPr>
            </a:pPr>
            <a:r>
              <a:t>“POLAR-AI connects mission resources, dependencies and operational risks to predict cascading impacts and test mitigation options before they become mission-critical.”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419088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473952"/>
            <a:ext cx="277337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COMPILEX |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3716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02A43"/>
                </a:solidFill>
                <a:latin typeface="Segoe UI"/>
              </a:defRPr>
            </a:pPr>
            <a:r>
              <a:t>CompileX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9456"/>
            <a:ext cx="1051560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731520"/>
            <a:ext cx="5069433" cy="237744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SYSTEM ARCHITECTURE · DATA PIPELINE · FIELD-VERIFIED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728655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sz="2000" b="1">
                <a:solidFill>
                  <a:srgbClr val="0C1E30"/>
                </a:solidFill>
                <a:latin typeface="Segoe UI"/>
              </a:defRPr>
            </a:pPr>
            <a:r>
              <a:t>TECHNICAL APPROACH: ZERO-BANDWIDTH RESILIENT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25603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defRPr sz="1050">
                <a:solidFill>
                  <a:srgbClr val="475569"/>
                </a:solidFill>
                <a:latin typeface="Segoe UI"/>
              </a:defRPr>
            </a:pPr>
            <a:r>
              <a:t>Diagram-first end-to-end mission intelligence flow with local-first persistence and zero cloud dependency.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029968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109728" lIns="109728" rIns="109728"/>
          <a:lstStyle/>
          <a:p>
            <a:pPr algn="l">
              <a:defRPr sz="850" b="1">
                <a:solidFill>
                  <a:srgbClr val="0284C7"/>
                </a:solidFill>
                <a:latin typeface="Segoe UI"/>
              </a:defRPr>
            </a:pPr>
            <a:r>
              <a:t>1. MISSION DATA LAYER</a:t>
            </a:r>
          </a:p>
          <a:p>
            <a:pPr algn="l">
              <a:spcAft>
                <a:spcPts val="600"/>
              </a:spcAft>
              <a:defRPr sz="800" b="1">
                <a:solidFill>
                  <a:srgbClr val="102A43"/>
                </a:solidFill>
                <a:latin typeface="Segoe UI"/>
              </a:defRPr>
            </a:pPr>
            <a:r>
              <a:t>Multi-Source Ingestion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Cargo Manifests (Transit/Hold)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Station Stock (Runway Burn)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Asset Wear &amp; Generator Logs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Personnel &amp; Sortie Rosters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Polar Meteorology (Wind/Blizzard)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9776" y="2926080"/>
            <a:ext cx="12801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874519"/>
            <a:ext cx="2029968" cy="2468880"/>
          </a:xfrm>
          <a:prstGeom prst="roundRect">
            <a:avLst/>
          </a:prstGeom>
          <a:solidFill>
            <a:srgbClr val="EBF5FB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109728" lIns="109728" rIns="109728"/>
          <a:lstStyle/>
          <a:p>
            <a:pPr algn="l">
              <a:defRPr sz="850" b="1">
                <a:solidFill>
                  <a:srgbClr val="0284C7"/>
                </a:solidFill>
                <a:latin typeface="Segoe UI"/>
              </a:defRPr>
            </a:pPr>
            <a:r>
              <a:t>2. STATE &amp; DATA LAYER</a:t>
            </a:r>
          </a:p>
          <a:p>
            <a:pPr algn="l">
              <a:spcAft>
                <a:spcPts val="600"/>
              </a:spcAft>
              <a:defRPr sz="800" b="1">
                <a:solidFill>
                  <a:srgbClr val="102A43"/>
                </a:solidFill>
                <a:latin typeface="Segoe UI"/>
              </a:defRPr>
            </a:pPr>
            <a:r>
              <a:t>Unified Relational State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Reactive DataContext Store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IndexedDB Local Persistence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Immutable Audit Ledger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Multi-Station Isolation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Client Cache Storage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926080"/>
            <a:ext cx="12801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874519"/>
            <a:ext cx="2029968" cy="246888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109728" lIns="109728" rIns="109728"/>
          <a:lstStyle/>
          <a:p>
            <a:pPr algn="l">
              <a:defRPr sz="850" b="1">
                <a:solidFill>
                  <a:srgbClr val="0284C7"/>
                </a:solidFill>
                <a:latin typeface="Segoe UI"/>
              </a:defRPr>
            </a:pPr>
            <a:r>
              <a:t>3. CONTINUITY ENGINE</a:t>
            </a:r>
          </a:p>
          <a:p>
            <a:pPr algn="l">
              <a:spcAft>
                <a:spcPts val="600"/>
              </a:spcAft>
              <a:defRPr sz="800" b="1">
                <a:solidFill>
                  <a:srgbClr val="102A43"/>
                </a:solidFill>
                <a:latin typeface="Segoe UI"/>
              </a:defRPr>
            </a:pPr>
            <a:r>
              <a:t>Deterministic Intelligence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Continuity Score (0–100%)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Dynamic Stock Runway Engine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Directed Dependency Graph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Cascade Impact Analyzer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Mission Memory Pattern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26080"/>
            <a:ext cx="12801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874519"/>
            <a:ext cx="2029968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109728" lIns="109728" rIns="109728"/>
          <a:lstStyle/>
          <a:p>
            <a:pPr algn="l">
              <a:defRPr sz="850" b="1">
                <a:solidFill>
                  <a:srgbClr val="0284C7"/>
                </a:solidFill>
                <a:latin typeface="Segoe UI"/>
              </a:defRPr>
            </a:pPr>
            <a:r>
              <a:t>4. DECISION SUPPORT</a:t>
            </a:r>
          </a:p>
          <a:p>
            <a:pPr algn="l">
              <a:spcAft>
                <a:spcPts val="600"/>
              </a:spcAft>
              <a:defRPr sz="800" b="1">
                <a:solidFill>
                  <a:srgbClr val="102A43"/>
                </a:solidFill>
                <a:latin typeface="Segoe UI"/>
              </a:defRPr>
            </a:pPr>
            <a:r>
              <a:t>Simulation &amp; Guidance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Interactive What-If Simulator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Causal Root-Cause Explainer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Ranked Mitigation Options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Emergency Triage &amp; SOS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Tactical Command Search (⌘K)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926080"/>
            <a:ext cx="128016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874519"/>
            <a:ext cx="2029968" cy="2468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109728" lIns="109728" rIns="109728"/>
          <a:lstStyle/>
          <a:p>
            <a:pPr algn="l">
              <a:defRPr sz="850" b="1">
                <a:solidFill>
                  <a:srgbClr val="059669"/>
                </a:solidFill>
                <a:latin typeface="Segoe UI"/>
              </a:defRPr>
            </a:pPr>
            <a:r>
              <a:t>5. COMMAND &amp; AUDIT</a:t>
            </a:r>
          </a:p>
          <a:p>
            <a:pPr algn="l">
              <a:spcAft>
                <a:spcPts val="600"/>
              </a:spcAft>
              <a:defRPr sz="800" b="1">
                <a:solidFill>
                  <a:srgbClr val="102A43"/>
                </a:solidFill>
                <a:latin typeface="Segoe UI"/>
              </a:defRPr>
            </a:pPr>
            <a:r>
              <a:t>Human-in-the-Loop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Sovereign Commander Gate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Role-Based Access (RBAC)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Action Approvals &amp; Overrides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Cryptographic Timestamp Log</a:t>
            </a:r>
          </a:p>
          <a:p>
            <a:pPr algn="l">
              <a:spcAft>
                <a:spcPts val="250"/>
              </a:spcAft>
              <a:defRPr sz="730">
                <a:solidFill>
                  <a:srgbClr val="475569"/>
                </a:solidFill>
                <a:latin typeface="Segoe UI"/>
              </a:defRPr>
            </a:pPr>
            <a:r>
              <a:t>• Mission Readiness Ensured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62272"/>
            <a:ext cx="5257800" cy="18470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OFFLINE-FIRST FIELD SYNCHRONIZATION ARCHITECTURE</a:t>
            </a:r>
          </a:p>
          <a:p>
            <a:pPr algn="l">
              <a:spcAft>
                <a:spcPts val="8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Polar sorties &amp; station winterings operate under complete communication silence. Zero cloud dependency: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166360"/>
            <a:ext cx="1152144" cy="10241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109728" lIns="73152" rIns="73152"/>
          <a:lstStyle/>
          <a:p>
            <a:pPr algn="l">
              <a:defRPr sz="780" b="1">
                <a:solidFill>
                  <a:srgbClr val="0369A1"/>
                </a:solidFill>
                <a:latin typeface="Segoe UI"/>
              </a:defRPr>
            </a:pPr>
            <a:r>
              <a:t>Step 1: Online Master</a:t>
            </a:r>
          </a:p>
          <a:p>
            <a:pPr algn="l">
              <a:defRPr sz="700">
                <a:solidFill>
                  <a:srgbClr val="475569"/>
                </a:solidFill>
                <a:latin typeface="Segoe UI"/>
              </a:defRPr>
            </a:pPr>
            <a:r>
              <a:t>Pre-departure sync of all manifests &amp;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93976" y="5166360"/>
            <a:ext cx="1152144" cy="10241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109728" lIns="73152" rIns="73152"/>
          <a:lstStyle/>
          <a:p>
            <a:pPr algn="l">
              <a:defRPr sz="780" b="1">
                <a:solidFill>
                  <a:srgbClr val="0369A1"/>
                </a:solidFill>
                <a:latin typeface="Segoe UI"/>
              </a:defRPr>
            </a:pPr>
            <a:r>
              <a:t>Step 2: Local PWA Cache</a:t>
            </a:r>
          </a:p>
          <a:p>
            <a:pPr algn="l">
              <a:defRPr sz="700">
                <a:solidFill>
                  <a:srgbClr val="475569"/>
                </a:solidFill>
                <a:latin typeface="Segoe UI"/>
              </a:defRPr>
            </a:pPr>
            <a:r>
              <a:t>Service worker precaches app, data &amp; maps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5166360"/>
            <a:ext cx="1152144" cy="10241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109728" lIns="73152" rIns="73152"/>
          <a:lstStyle/>
          <a:p>
            <a:pPr algn="l">
              <a:defRPr sz="780" b="1">
                <a:solidFill>
                  <a:srgbClr val="0369A1"/>
                </a:solidFill>
                <a:latin typeface="Segoe UI"/>
              </a:defRPr>
            </a:pPr>
            <a:r>
              <a:t>Step 3: Offline Operation</a:t>
            </a:r>
          </a:p>
          <a:p>
            <a:pPr algn="l">
              <a:defRPr sz="700">
                <a:solidFill>
                  <a:srgbClr val="475569"/>
                </a:solidFill>
                <a:latin typeface="Segoe UI"/>
              </a:defRPr>
            </a:pPr>
            <a:r>
              <a:t>Sorties log inventory, sorties, &amp; incidents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4568" y="5166360"/>
            <a:ext cx="1152144" cy="10241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109728" lIns="73152" rIns="73152"/>
          <a:lstStyle/>
          <a:p>
            <a:pPr algn="l">
              <a:defRPr sz="780" b="1">
                <a:solidFill>
                  <a:srgbClr val="0369A1"/>
                </a:solidFill>
                <a:latin typeface="Segoe UI"/>
              </a:defRPr>
            </a:pPr>
            <a:r>
              <a:t>Step 4: Auto Re-Sync</a:t>
            </a:r>
          </a:p>
          <a:p>
            <a:pPr algn="l">
              <a:defRPr sz="700">
                <a:solidFill>
                  <a:srgbClr val="475569"/>
                </a:solidFill>
                <a:latin typeface="Segoe UI"/>
              </a:defRPr>
            </a:pPr>
            <a:r>
              <a:t>Deterministic conflict-free push on link recovery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4462272"/>
            <a:ext cx="5257800" cy="18470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CODEBASE-VERIFIED IMPLEMENTATION STACK (100% AUDITED)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Frontend &amp; Architecture: </a:t>
            </a:r>
            <a:r>
              <a:rPr b="0" sz="819">
                <a:solidFill>
                  <a:srgbClr val="475569"/>
                </a:solidFill>
                <a:latin typeface="Segoe UI"/>
              </a:rPr>
              <a:t>React 18 · Vite 8 · Modern Single-Page Application with responsive grid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Styling &amp; Design System: </a:t>
            </a:r>
            <a:r>
              <a:rPr b="0" sz="819">
                <a:solidFill>
                  <a:srgbClr val="475569"/>
                </a:solidFill>
                <a:latin typeface="Segoe UI"/>
              </a:rPr>
              <a:t>Tailwind CSS v4 · Lucide React Icons · Light Polar Aerospace design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Geospatial Visualization: </a:t>
            </a:r>
            <a:r>
              <a:rPr b="0" sz="819">
                <a:solidFill>
                  <a:srgbClr val="475569"/>
                </a:solidFill>
                <a:latin typeface="Segoe UI"/>
              </a:rPr>
              <a:t>Leaflet · React-Leaflet · Polar Projection Coordinates (Maitri/Bharati/Himadri)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Data Visualization: </a:t>
            </a:r>
            <a:r>
              <a:rPr b="0" sz="819">
                <a:solidFill>
                  <a:srgbClr val="475569"/>
                </a:solidFill>
                <a:latin typeface="Segoe UI"/>
              </a:rPr>
              <a:t>Recharts Engine (Stock runways, degradation curves, multi-station comparisons)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Offline &amp; Local Storage: </a:t>
            </a:r>
            <a:r>
              <a:rPr b="0" sz="819">
                <a:solidFill>
                  <a:srgbClr val="475569"/>
                </a:solidFill>
                <a:latin typeface="Segoe UI"/>
              </a:rPr>
              <a:t>Vite PWA Plugin · Service Worker (Workbox) · IndexedDB &amp; LocalStorage Cache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Cloud Ready &amp; Auth: </a:t>
            </a:r>
            <a:r>
              <a:rPr b="0" sz="819">
                <a:solidFill>
                  <a:srgbClr val="475569"/>
                </a:solidFill>
                <a:latin typeface="Segoe UI"/>
              </a:rPr>
              <a:t>Supabase Client SDK · Deterministic Role-Based Access Control (RBAC)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419088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473952"/>
            <a:ext cx="277337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COMPILEX |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3716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02A43"/>
                </a:solidFill>
                <a:latin typeface="Segoe UI"/>
              </a:defRPr>
            </a:pPr>
            <a:r>
              <a:t>CompileX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9456"/>
            <a:ext cx="1051560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731520"/>
            <a:ext cx="5310835" cy="237744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FIELD FEASIBILITY · OPERATIONAL VIABILITY · RISK MITIGATION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728655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sz="2000" b="1">
                <a:solidFill>
                  <a:srgbClr val="0C1E30"/>
                </a:solidFill>
                <a:latin typeface="Segoe UI"/>
              </a:defRPr>
            </a:pPr>
            <a:r>
              <a:t>FEASIBILITY &amp; VIABILITY: RIGOROUS EXTREME-ENVIRONMENT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25603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defRPr sz="1050">
                <a:solidFill>
                  <a:srgbClr val="475569"/>
                </a:solidFill>
                <a:latin typeface="Segoe UI"/>
              </a:defRPr>
            </a:pPr>
            <a:r>
              <a:t>Demonstrating working software capabilities, operational constraints handling, and scalable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257800" cy="2157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1. TECHNICAL FEASIBILITY (DEMONSTRATED IN CODEBASE)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Mission Continuity Engine: </a:t>
            </a:r>
            <a:r>
              <a:rPr b="0" sz="819">
                <a:solidFill>
                  <a:srgbClr val="475569"/>
                </a:solidFill>
                <a:latin typeface="Segoe UI"/>
              </a:rPr>
              <a:t>Live 0–100% composite health index recalculating across real operational data.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What-If Simulator: </a:t>
            </a:r>
            <a:r>
              <a:rPr b="0" sz="819">
                <a:solidFill>
                  <a:srgbClr val="475569"/>
                </a:solidFill>
                <a:latin typeface="Segoe UI"/>
              </a:rPr>
              <a:t>Interactive perturbation of resupply delays, consumption surges, &amp; generator shutdowns.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Cascading Dependency Graph: </a:t>
            </a:r>
            <a:r>
              <a:rPr b="0" sz="819">
                <a:solidFill>
                  <a:srgbClr val="475569"/>
                </a:solidFill>
                <a:latin typeface="Segoe UI"/>
              </a:rPr>
              <a:t>Visual linkage of assets (Fuel → Generators → Power → Heating → Science).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Offline-First PWA: </a:t>
            </a:r>
            <a:r>
              <a:rPr b="0" sz="819">
                <a:solidFill>
                  <a:srgbClr val="475569"/>
                </a:solidFill>
                <a:latin typeface="Segoe UI"/>
              </a:rPr>
              <a:t>Service worker precaching assets; full navigation &amp; logging without active internet.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Mission Memory Intelligence: </a:t>
            </a:r>
            <a:r>
              <a:rPr b="0" sz="819">
                <a:solidFill>
                  <a:srgbClr val="475569"/>
                </a:solidFill>
                <a:latin typeface="Segoe UI"/>
              </a:rPr>
              <a:t>Synthesizes lessons from historical polar logs to advise active sorties.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74519"/>
            <a:ext cx="5257800" cy="2157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2. OPERATIONAL FEASIBILITY (POLAR ENVIRONMENT FIT)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Remote Polar Deployment: </a:t>
            </a:r>
            <a:r>
              <a:rPr b="0" sz="819">
                <a:solidFill>
                  <a:srgbClr val="475569"/>
                </a:solidFill>
                <a:latin typeface="Segoe UI"/>
              </a:rPr>
              <a:t>Built for Antarctic stations (Maitri, Bharati) &amp; Arctic research (Himadri).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Low-Bandwidth Hardware Tolerance: </a:t>
            </a:r>
            <a:r>
              <a:rPr b="0" sz="819">
                <a:solidFill>
                  <a:srgbClr val="475569"/>
                </a:solidFill>
                <a:latin typeface="Segoe UI"/>
              </a:rPr>
              <a:t>Ultra-compact web bundle (&lt;1.2MB gzip) runs on low-power field rugged laptops.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Strict Resource Constraints: </a:t>
            </a:r>
            <a:r>
              <a:rPr b="0" sz="819">
                <a:solidFill>
                  <a:srgbClr val="475569"/>
                </a:solidFill>
                <a:latin typeface="Segoe UI"/>
              </a:rPr>
              <a:t>Models non-negotiable fuel, water, ration, &amp; medical buffer reserve limits.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Centralized Mission Command: </a:t>
            </a:r>
            <a:r>
              <a:rPr b="0" sz="819">
                <a:solidFill>
                  <a:srgbClr val="475569"/>
                </a:solidFill>
                <a:latin typeface="Segoe UI"/>
              </a:rPr>
              <a:t>Unifies logistics, science, and medical officers under synchronized theatre state.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Human-in-the-Loop Governance: </a:t>
            </a:r>
            <a:r>
              <a:rPr b="0" sz="819">
                <a:solidFill>
                  <a:srgbClr val="475569"/>
                </a:solidFill>
                <a:latin typeface="Segoe UI"/>
              </a:rPr>
              <a:t>Zero autonomous overrides of life-support; decisions require commander signature.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33087"/>
            <a:ext cx="5257800" cy="2176272"/>
          </a:xfrm>
          <a:prstGeom prst="roundRect">
            <a:avLst/>
          </a:prstGeom>
          <a:solidFill>
            <a:srgbClr val="EBF5FB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E11D48"/>
                </a:solidFill>
                <a:latin typeface="Segoe UI"/>
              </a:defRPr>
            </a:pPr>
            <a:r>
              <a:t>3. OPERATIONAL CHALLENGES &amp; VERIFIED MITIGATIONS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E11D48"/>
                </a:solidFill>
                <a:latin typeface="Segoe UI"/>
              </a:rPr>
              <a:t>• Limited / Zero Connectivity → </a:t>
            </a:r>
            <a:r>
              <a:rPr b="0" sz="819">
                <a:solidFill>
                  <a:srgbClr val="102A43"/>
                </a:solidFill>
                <a:latin typeface="Segoe UI"/>
              </a:rPr>
              <a:t>Offline-first PWA caching with persistent IndexedDB &amp; local queue.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E11D48"/>
                </a:solidFill>
                <a:latin typeface="Segoe UI"/>
              </a:rPr>
              <a:t>• Concurrent Offline Data Edits → </a:t>
            </a:r>
            <a:r>
              <a:rPr b="0" sz="819">
                <a:solidFill>
                  <a:srgbClr val="102A43"/>
                </a:solidFill>
                <a:latin typeface="Segoe UI"/>
              </a:rPr>
              <a:t>Deterministic timestamped state reconciliation upon link restoration.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E11D48"/>
                </a:solidFill>
                <a:latin typeface="Segoe UI"/>
              </a:rPr>
              <a:t>• Complex Multi-System Dependencies → </a:t>
            </a:r>
            <a:r>
              <a:rPr b="0" sz="819">
                <a:solidFill>
                  <a:srgbClr val="102A43"/>
                </a:solidFill>
                <a:latin typeface="Segoe UI"/>
              </a:rPr>
              <a:t>Directed dependency graphs tracing ripple effects before decisions.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E11D48"/>
                </a:solidFill>
                <a:latin typeface="Segoe UI"/>
              </a:rPr>
              <a:t>• Untrusted AI Recommendations → </a:t>
            </a:r>
            <a:r>
              <a:rPr b="0" sz="819">
                <a:solidFill>
                  <a:srgbClr val="102A43"/>
                </a:solidFill>
                <a:latin typeface="Segoe UI"/>
              </a:rPr>
              <a:t>Strict Human-in-the-Loop gate; explainable rule heuristics &amp; audit logs.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E11D48"/>
                </a:solidFill>
                <a:latin typeface="Segoe UI"/>
              </a:rPr>
              <a:t>• Dynamic Extreme Weather → </a:t>
            </a:r>
            <a:r>
              <a:rPr b="0" sz="819">
                <a:solidFill>
                  <a:srgbClr val="102A43"/>
                </a:solidFill>
                <a:latin typeface="Segoe UI"/>
              </a:rPr>
              <a:t>What-If simulation recalculates burn &amp; runway prior to sortie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133087"/>
            <a:ext cx="525780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4. STRATEGIC SCALABILITY ROADMAP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0369A1"/>
                </a:solidFill>
                <a:latin typeface="Segoe UI"/>
              </a:rPr>
              <a:t>• Phase 1: Indian Polar Expeditions: </a:t>
            </a:r>
            <a:r>
              <a:rPr b="0" sz="819">
                <a:solidFill>
                  <a:srgbClr val="475569"/>
                </a:solidFill>
                <a:latin typeface="Segoe UI"/>
              </a:rPr>
              <a:t>Deployment across Antarctic stations (Maitri, Bharati) &amp; Arctic base (Himadri).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0369A1"/>
                </a:solidFill>
                <a:latin typeface="Segoe UI"/>
              </a:rPr>
              <a:t>• Phase 2: Multi-Station Network: </a:t>
            </a:r>
            <a:r>
              <a:rPr b="0" sz="819">
                <a:solidFill>
                  <a:srgbClr val="475569"/>
                </a:solidFill>
                <a:latin typeface="Segoe UI"/>
              </a:rPr>
              <a:t>Synchronization across supply vessels (MV Vasily Golovnin), aircraft, &amp; field camps.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0369A1"/>
                </a:solidFill>
                <a:latin typeface="Segoe UI"/>
              </a:rPr>
              <a:t>• Phase 3: High-Altitude Defense &amp; Science: </a:t>
            </a:r>
            <a:r>
              <a:rPr b="0" sz="819">
                <a:solidFill>
                  <a:srgbClr val="475569"/>
                </a:solidFill>
                <a:latin typeface="Segoe UI"/>
              </a:rPr>
              <a:t>Extensible to Siachen, Ladakh, and Himalayan glaciological outposts.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0369A1"/>
                </a:solidFill>
                <a:latin typeface="Segoe UI"/>
              </a:rPr>
              <a:t>• Phase 4: Disaster Relief Operations: </a:t>
            </a:r>
            <a:r>
              <a:rPr b="0" sz="819">
                <a:solidFill>
                  <a:srgbClr val="475569"/>
                </a:solidFill>
                <a:latin typeface="Segoe UI"/>
              </a:rPr>
              <a:t>Blackout logistics coordination for island emergencies (Andaman) &amp; flood relief.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0369A1"/>
                </a:solidFill>
                <a:latin typeface="Segoe UI"/>
              </a:rPr>
              <a:t>• Phase 5: Extreme Industrial Sectors: </a:t>
            </a:r>
            <a:r>
              <a:rPr b="0" sz="819">
                <a:solidFill>
                  <a:srgbClr val="475569"/>
                </a:solidFill>
                <a:latin typeface="Segoe UI"/>
              </a:rPr>
              <a:t>Offshore oil platforms, deep-sea exploration, and remote mining sites.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19088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73952"/>
            <a:ext cx="277337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COMPILEX |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3716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02A43"/>
                </a:solidFill>
                <a:latin typeface="Segoe UI"/>
              </a:defRPr>
            </a:pPr>
            <a:r>
              <a:t>CompileX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9456"/>
            <a:ext cx="1051560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731520"/>
            <a:ext cx="3942892" cy="237744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OPERATIONAL VALUE · QUANTIFIABLE RESILIENCE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728655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sz="2000" b="1">
                <a:solidFill>
                  <a:srgbClr val="0C1E30"/>
                </a:solidFill>
                <a:latin typeface="Segoe UI"/>
              </a:defRPr>
            </a:pPr>
            <a:r>
              <a:t>IMPACT &amp; BENEFITS: PROTECTING POLAR SCIENCE &amp; EXPEDITION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25603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defRPr sz="1050">
                <a:solidFill>
                  <a:srgbClr val="475569"/>
                </a:solidFill>
                <a:latin typeface="Segoe UI"/>
              </a:defRPr>
            </a:pPr>
            <a:r>
              <a:t>Delivering operational clarity, early hazard awareness, and defensible decision support for national polar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2578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1. UNIFIED OPERATIONAL VISIBILITY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Single Glass Cockpit: </a:t>
            </a:r>
            <a:r>
              <a:rPr b="0" sz="819">
                <a:solidFill>
                  <a:srgbClr val="475569"/>
                </a:solidFill>
                <a:latin typeface="Segoe UI"/>
              </a:rPr>
              <a:t>Consolidates distributed manifests, stock ledgers, and machinery telemetry into one real-time operational picture.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Complete Cargo Pipeline: </a:t>
            </a:r>
            <a:r>
              <a:rPr b="0" sz="819">
                <a:solidFill>
                  <a:srgbClr val="475569"/>
                </a:solidFill>
                <a:latin typeface="Segoe UI"/>
              </a:rPr>
              <a:t>Tracks multi-stage freight movement from NCPOR Goa through Cape Town to Antarctic ice shelf offloading.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Real-Time Runway Calculations: </a:t>
            </a:r>
            <a:r>
              <a:rPr b="0" sz="819">
                <a:solidFill>
                  <a:srgbClr val="475569"/>
                </a:solidFill>
                <a:latin typeface="Segoe UI"/>
              </a:rPr>
              <a:t>Replaces guesswork with dynamic burn-rate projections for fuel, water, medical supplies, and food.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Multi-Station Oversight: </a:t>
            </a:r>
            <a:r>
              <a:rPr b="0" sz="819">
                <a:solidFill>
                  <a:srgbClr val="475569"/>
                </a:solidFill>
                <a:latin typeface="Segoe UI"/>
              </a:rPr>
              <a:t>Allows expedition commanders to monitor Maitri, Bharati, and Himadri stations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74519"/>
            <a:ext cx="52578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E11D48"/>
                </a:solidFill>
                <a:latin typeface="Segoe UI"/>
              </a:defRPr>
            </a:pPr>
            <a:r>
              <a:t>2. EARLY RISK AWARENESS &amp; CASCADE DETECTION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7–14 Day Predictive Horizon: </a:t>
            </a:r>
            <a:r>
              <a:rPr b="0" sz="819">
                <a:solidFill>
                  <a:srgbClr val="475569"/>
                </a:solidFill>
                <a:latin typeface="Segoe UI"/>
              </a:rPr>
              <a:t>Detects impending inventory breaches before emergency reserves are depleted.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Dependency Cascade Tracing: </a:t>
            </a:r>
            <a:r>
              <a:rPr b="0" sz="819">
                <a:solidFill>
                  <a:srgbClr val="475569"/>
                </a:solidFill>
                <a:latin typeface="Segoe UI"/>
              </a:rPr>
              <a:t>Identifies hidden secondary impacts (e.g. generator fuel starvation causing lab freeze-outs).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Weather &amp; Sea-Ice Correlation: </a:t>
            </a:r>
            <a:r>
              <a:rPr b="0" sz="819">
                <a:solidFill>
                  <a:srgbClr val="475569"/>
                </a:solidFill>
                <a:latin typeface="Segoe UI"/>
              </a:rPr>
              <a:t>Flags vessel approach hazards and blizzard windows that impact surface traverse safety.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Root-Cause Attribution: </a:t>
            </a:r>
            <a:r>
              <a:rPr b="0" sz="819">
                <a:solidFill>
                  <a:srgbClr val="475569"/>
                </a:solidFill>
                <a:latin typeface="Segoe UI"/>
              </a:rPr>
              <a:t>Explains exactly why an alert fired rather than outputting cryptic anomaly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58768"/>
            <a:ext cx="52578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3. DEFENSIBLE DECISION SUPPORT &amp; WHAT-IF SIMULATION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Safe Synthetic Experimentation: </a:t>
            </a:r>
            <a:r>
              <a:rPr b="0" sz="819">
                <a:solidFill>
                  <a:srgbClr val="475569"/>
                </a:solidFill>
                <a:latin typeface="Segoe UI"/>
              </a:rPr>
              <a:t>Operators test fuel rationing or load shedding in simulation prior to real-world deployment.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Ranked Mitigation Trade-Offs: </a:t>
            </a:r>
            <a:r>
              <a:rPr b="0" sz="819">
                <a:solidFill>
                  <a:srgbClr val="475569"/>
                </a:solidFill>
                <a:latin typeface="Segoe UI"/>
              </a:rPr>
              <a:t>AI recommends prioritized operational responses with explicit runway deltas.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Sovereign Human Command Gate: </a:t>
            </a:r>
            <a:r>
              <a:rPr b="0" sz="819">
                <a:solidFill>
                  <a:srgbClr val="475569"/>
                </a:solidFill>
                <a:latin typeface="Segoe UI"/>
              </a:rPr>
              <a:t>Preserves commander authority; no action is taken without explicit authorized review.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Immutable Audit Traceability: </a:t>
            </a:r>
            <a:r>
              <a:rPr b="0" sz="819">
                <a:solidFill>
                  <a:srgbClr val="475569"/>
                </a:solidFill>
                <a:latin typeface="Segoe UI"/>
              </a:rPr>
              <a:t>Every decision, justification, and operator ID is cryptographically timestamped.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858768"/>
            <a:ext cx="52578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109728" lIns="146304" rIns="146304"/>
          <a:lstStyle/>
          <a:p>
            <a:pPr algn="l">
              <a:spcAft>
                <a:spcPts val="6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4. MISSION RESILIENCE &amp; RESOURCE EFFICIENCY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Prevention of Crisis Evacuations: </a:t>
            </a:r>
            <a:r>
              <a:rPr b="0" sz="819">
                <a:solidFill>
                  <a:srgbClr val="475569"/>
                </a:solidFill>
                <a:latin typeface="Segoe UI"/>
              </a:rPr>
              <a:t>Early mitigation avoids life-threatening mid-winter polar rescues and emergency air drops.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Elimination of Duplicate Orders: </a:t>
            </a:r>
            <a:r>
              <a:rPr b="0" sz="819">
                <a:solidFill>
                  <a:srgbClr val="475569"/>
                </a:solidFill>
                <a:latin typeface="Segoe UI"/>
              </a:rPr>
              <a:t>Centralized cargo tracking prevents unnecessary intercontinental supply shipments.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Environmental Treaty Compliance: </a:t>
            </a:r>
            <a:r>
              <a:rPr b="0" sz="819">
                <a:solidFill>
                  <a:srgbClr val="475569"/>
                </a:solidFill>
                <a:latin typeface="Segoe UI"/>
              </a:rPr>
              <a:t>Aids Antarctic Treaty waste management and hazmat tracking protocols.</a:t>
            </a:r>
          </a:p>
          <a:p>
            <a:pPr algn="l">
              <a:spcAft>
                <a:spcPts val="250"/>
              </a:spcAft>
            </a:pPr>
            <a:r>
              <a:rPr b="1" sz="819">
                <a:solidFill>
                  <a:srgbClr val="102A43"/>
                </a:solidFill>
                <a:latin typeface="Segoe UI"/>
              </a:rPr>
              <a:t>• Continuous Field Readiness: </a:t>
            </a:r>
            <a:r>
              <a:rPr b="0" sz="819">
                <a:solidFill>
                  <a:srgbClr val="475569"/>
                </a:solidFill>
                <a:latin typeface="Segoe UI"/>
              </a:rPr>
              <a:t>Ensures research teams maintain unbroken power and life-support across the 240-day polar night.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33872"/>
            <a:ext cx="10728655" cy="47548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109728" lIns="146304" rIns="146304"/>
          <a:lstStyle/>
          <a:p>
            <a:pPr algn="l"/>
            <a:r>
              <a:rPr b="1" sz="880">
                <a:solidFill>
                  <a:srgbClr val="0369A1"/>
                </a:solidFill>
                <a:latin typeface="Segoe UI"/>
              </a:rPr>
              <a:t>SCALABILITY BEYOND POLAR EXPEDITIONS: </a:t>
            </a:r>
            <a:r>
              <a:rPr b="0" sz="880">
                <a:solidFill>
                  <a:srgbClr val="102A43"/>
                </a:solidFill>
                <a:latin typeface="Segoe UI"/>
              </a:rPr>
              <a:t>Extreme High-Altitude Border Logistics (Siachen/Ladakh) · Disaster Relief Operations (NDRF) · Offshore Energy Platforms · Island Emergency Supply Chains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19088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73952"/>
            <a:ext cx="277337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COMPILEX |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3716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02A43"/>
                </a:solidFill>
                <a:latin typeface="Segoe UI"/>
              </a:defRPr>
            </a:pPr>
            <a:r>
              <a:t>CompileX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9456"/>
            <a:ext cx="1051560" cy="493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731520"/>
            <a:ext cx="4747564" cy="237744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DOMAIN RIGOR · OPERATIONAL REALITIES · SCIENTIFIC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728655" cy="420624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>
              <a:defRPr sz="2000" b="1">
                <a:solidFill>
                  <a:srgbClr val="0C1E30"/>
                </a:solidFill>
                <a:latin typeface="Segoe UI"/>
              </a:defRPr>
            </a:pPr>
            <a:r>
              <a:t>RESEARCH &amp; OPERATIONAL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25603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defRPr sz="1050">
                <a:solidFill>
                  <a:srgbClr val="475569"/>
                </a:solidFill>
                <a:latin typeface="Segoe UI"/>
              </a:defRPr>
            </a:pPr>
            <a:r>
              <a:t>Rooted in authentic Indian polar expedition mandates, international treaty frameworks, and empirical field logistics.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146304" rIns="146304"/>
          <a:lstStyle/>
          <a:p>
            <a:pPr algn="l">
              <a:spcAft>
                <a:spcPts val="8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1. DOMAIN &amp; INSTITUTIONAL CONTEXT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NCPOR Mandate:
</a:t>
            </a:r>
            <a:r>
              <a:rPr b="0" sz="800">
                <a:solidFill>
                  <a:srgbClr val="475569"/>
                </a:solidFill>
                <a:latin typeface="Segoe UI"/>
              </a:rPr>
              <a:t>National Centre for Polar and Ocean Research (MoES, Govt. of India) coordinates scientific research and multi-modal logistics across polar sectors.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Indian Research Bases:
</a:t>
            </a:r>
            <a:r>
              <a:rPr b="0" sz="800">
                <a:solidFill>
                  <a:srgbClr val="475569"/>
                </a:solidFill>
                <a:latin typeface="Segoe UI"/>
              </a:rPr>
              <a:t>Antarctica: Maitri (1989, Schirmacher Oasis) &amp; Bharati (2012, Larsemann Hills).
Arctic: Himadri (2008, Ny-Ålesund, Svalbard, 78°55' N).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Antarctic Treaty System (ATS):
</a:t>
            </a:r>
            <a:r>
              <a:rPr b="0" sz="800">
                <a:solidFill>
                  <a:srgbClr val="475569"/>
                </a:solidFill>
                <a:latin typeface="Segoe UI"/>
              </a:rPr>
              <a:t>Strict governance under Madrid Protocol (1991) regulating waste repatriation, fuel bunkering, and zero environmental contamination.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COMNAP Standards:
</a:t>
            </a:r>
            <a:r>
              <a:rPr b="0" sz="800">
                <a:solidFill>
                  <a:srgbClr val="475569"/>
                </a:solidFill>
                <a:latin typeface="Segoe UI"/>
              </a:rPr>
              <a:t>Council of Managers of National Antarctic Programs operational guidelines for inter-station SAR and cold-region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146304" rIns="146304"/>
          <a:lstStyle/>
          <a:p>
            <a:pPr algn="l">
              <a:spcAft>
                <a:spcPts val="8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2. POLAR OPERATIONAL INSIGHTS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Multi-Stage Resupply Corridor:
</a:t>
            </a:r>
            <a:r>
              <a:rPr b="0" sz="800">
                <a:solidFill>
                  <a:srgbClr val="475569"/>
                </a:solidFill>
                <a:latin typeface="Segoe UI"/>
              </a:rPr>
              <a:t>Cargo moves across complex maritime pipelines: NCPOR Goa → Mumbai Port → Cape Town Gateway → Antarctic Ice Shelf → Continental Traverse.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The Winter Isolation Window:
</a:t>
            </a:r>
            <a:r>
              <a:rPr b="0" sz="800">
                <a:solidFill>
                  <a:srgbClr val="475569"/>
                </a:solidFill>
                <a:latin typeface="Segoe UI"/>
              </a:rPr>
              <a:t>Stations face complete physical isolation for ~8 months (March–November); sea ice blocks vessels and storms ground flights.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Critical Power &amp; Heating Spine:
</a:t>
            </a:r>
            <a:r>
              <a:rPr b="0" sz="800">
                <a:solidFill>
                  <a:srgbClr val="475569"/>
                </a:solidFill>
                <a:latin typeface="Segoe UI"/>
              </a:rPr>
              <a:t>Station survival depends on uninterrupted Arctic-grade Jet A-1 / ATF fuel for combined heat &amp; power (CHP) generators.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Environmental Retrograde:
</a:t>
            </a:r>
            <a:r>
              <a:rPr b="0" sz="800">
                <a:solidFill>
                  <a:srgbClr val="475569"/>
                </a:solidFill>
                <a:latin typeface="Segoe UI"/>
              </a:rPr>
              <a:t>All station solid waste, sewage sludge, and used lubricants must be manifested, compacted, and shipped back to the mainland.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74519"/>
            <a:ext cx="3447288" cy="4297680"/>
          </a:xfrm>
          <a:prstGeom prst="roundRect">
            <a:avLst/>
          </a:prstGeom>
          <a:solidFill>
            <a:srgbClr val="EBF5FB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146304" rIns="146304"/>
          <a:lstStyle/>
          <a:p>
            <a:pPr algn="l">
              <a:spcAft>
                <a:spcPts val="8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3. CITATIONS &amp; PROJECT REPOSITORY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NCPOR Official Portal &amp; Expedition Logs:
</a:t>
            </a:r>
            <a:r>
              <a:rPr b="0" sz="780">
                <a:solidFill>
                  <a:srgbClr val="475569"/>
                </a:solidFill>
                <a:latin typeface="Segoe UI"/>
              </a:rPr>
              <a:t>National Centre for Polar and Ocean Research, Ministry of Earth Sciences, Govt. of India (ncpor.res.in).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Ministry of Earth Sciences (MoES):
</a:t>
            </a:r>
            <a:r>
              <a:rPr b="0" sz="780">
                <a:solidFill>
                  <a:srgbClr val="475569"/>
                </a:solidFill>
                <a:latin typeface="Segoe UI"/>
              </a:rPr>
              <a:t>Annual Reports &amp; Indian Antarctic Research Operational Guidelines (moes.gov.in).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Secretariat of the Antarctic Treaty:
</a:t>
            </a:r>
            <a:r>
              <a:rPr b="0" sz="780">
                <a:solidFill>
                  <a:srgbClr val="475569"/>
                </a:solidFill>
                <a:latin typeface="Segoe UI"/>
              </a:rPr>
              <a:t>Protocol on Environmental Protection to the Antarctic Treaty — Annex III: Waste Disposal &amp; Waste Management (ats.aq).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COMNAP Operations Manual:
</a:t>
            </a:r>
            <a:r>
              <a:rPr b="0" sz="780">
                <a:solidFill>
                  <a:srgbClr val="475569"/>
                </a:solidFill>
                <a:latin typeface="Segoe UI"/>
              </a:rPr>
              <a:t>Council of Managers of National Antarctic Programs — Station Logistics &amp; Flight Safety Directives (comnap.aq).</a:t>
            </a:r>
          </a:p>
          <a:p>
            <a:pPr algn="l">
              <a:spcAft>
                <a:spcPts val="600"/>
              </a:spcAft>
            </a:pPr>
            <a:r>
              <a:rPr b="1" sz="850">
                <a:solidFill>
                  <a:srgbClr val="102A43"/>
                </a:solidFill>
                <a:latin typeface="Segoe UI"/>
              </a:rPr>
              <a:t>POLAR-AI Software Prototype:
</a:t>
            </a:r>
            <a:r>
              <a:rPr b="0" sz="780">
                <a:solidFill>
                  <a:srgbClr val="475569"/>
                </a:solidFill>
                <a:latin typeface="Segoe UI"/>
              </a:rPr>
              <a:t>Smart India Hackathon 2026 Submission Repository:
github.com/bhavishyaone1/POLAR-AI
Verified React 18, Vite 8, PWA &amp; Leaflet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19088"/>
            <a:ext cx="10728655" cy="12700"/>
          </a:xfrm>
          <a:prstGeom prst="rect">
            <a:avLst/>
          </a:prstGeom>
          <a:solidFill>
            <a:srgbClr val="E2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77724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SMART INDIA HACKATHON 2026 | PS ID: SIH26062 | POLAR-AI: MISSION CONTINUITY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73952"/>
            <a:ext cx="277337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COMPILEX |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