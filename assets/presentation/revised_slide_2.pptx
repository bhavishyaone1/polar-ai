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371600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2A43"/>
                </a:solidFill>
                <a:latin typeface="Segoe UI"/>
              </a:defRPr>
            </a:pPr>
            <a:r>
              <a:t>CompileX</a:t>
            </a:r>
          </a:p>
        </p:txBody>
      </p:sp>
      <p:pic>
        <p:nvPicPr>
          <p:cNvPr id="4" name="Picture 3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164592"/>
            <a:ext cx="1097280" cy="5120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137160"/>
            <a:ext cx="7619695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C2340"/>
                </a:solidFill>
                <a:latin typeface="Segoe UI"/>
              </a:defRPr>
            </a:pPr>
            <a:r>
              <a:t>POLAR-AI</a:t>
            </a:r>
          </a:p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Mission Continuity Intelligence for Extreme Environments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86868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868680"/>
            <a:ext cx="310896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⚠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2834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 b="1">
                <a:solidFill>
                  <a:srgbClr val="102A43"/>
                </a:solidFill>
                <a:latin typeface="Segoe UI"/>
              </a:defRPr>
            </a:pPr>
            <a:r>
              <a:t>📄 Data Silos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Manifests &amp; stock trapped in disconnected spreadsheets.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834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 b="1">
                <a:solidFill>
                  <a:srgbClr val="102A43"/>
                </a:solidFill>
                <a:latin typeface="Segoe UI"/>
              </a:defRPr>
            </a:pPr>
            <a:r>
              <a:t>📦 Resupply Delays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8-month winter isolation with zero resupply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834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 b="1">
                <a:solidFill>
                  <a:srgbClr val="102A43"/>
                </a:solidFill>
                <a:latin typeface="Segoe UI"/>
              </a:defRPr>
            </a:pPr>
            <a:r>
              <a:t>⛽ Cascading Failures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Fuel shortage → Generator trip → Station heat loss.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59"/>
            <a:ext cx="2834640" cy="59436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1000" b="1">
                <a:solidFill>
                  <a:srgbClr val="102A43"/>
                </a:solidFill>
                <a:latin typeface="Segoe UI"/>
              </a:defRPr>
            </a:pPr>
            <a:r>
              <a:t>📡 Total Blackout</a:t>
            </a:r>
          </a:p>
          <a:p>
            <a:pPr>
              <a:defRPr sz="850">
                <a:solidFill>
                  <a:srgbClr val="475569"/>
                </a:solidFill>
                <a:latin typeface="Segoe UI"/>
              </a:defRPr>
            </a:pPr>
            <a:r>
              <a:t>Polar blizzards cut all cloud &amp; satellite links.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206240"/>
            <a:ext cx="2889504" cy="71323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B45309"/>
                </a:solidFill>
                <a:latin typeface="Segoe UI"/>
              </a:defRPr>
            </a:pPr>
            <a:r>
              <a:t>"Reactive tools report shortages.</a:t>
            </a:r>
            <a:br/>
            <a:r>
              <a:t>Extreme missions need cascading foresight."</a:t>
            </a:r>
          </a:p>
        </p:txBody>
      </p:sp>
      <p:pic>
        <p:nvPicPr>
          <p:cNvPr id="13" name="Picture 12" descr="p2_img9_117_651x99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078992"/>
            <a:ext cx="1508760" cy="37947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794760" y="100584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📊 Continuity Score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0–100% live mission health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100584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🚢 Cargo Tracking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Tracks Goa → Cape Town → Bases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224028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🔄 What-If Simulator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Tests delays &amp; rationing in real-time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224028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🧠 Mission Memory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Recalls past expedition incident logs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88620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🔗 Dependency Graph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Links Fuel → Power → Heat → Labs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3886200"/>
            <a:ext cx="14630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54864" lIns="73152" rIns="73152"/>
          <a:lstStyle/>
          <a:p>
            <a:pPr algn="ctr">
              <a:defRPr sz="919" b="1">
                <a:solidFill>
                  <a:srgbClr val="0284C7"/>
                </a:solidFill>
                <a:latin typeface="Segoe UI"/>
              </a:defRPr>
            </a:pPr>
            <a:r>
              <a:t>🛡️ Offline Triage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Instant SOS dispatch &amp; emergency logs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86868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868680"/>
            <a:ext cx="3108960" cy="438912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🛡️  OUR 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371600"/>
            <a:ext cx="292608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900" b="1">
                <a:solidFill>
                  <a:srgbClr val="DC2626"/>
                </a:solidFill>
                <a:latin typeface="Segoe UI"/>
              </a:defRPr>
            </a:pPr>
            <a:r>
              <a:t>FROM REACTIVE TO PREDICTIVE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1627632"/>
            <a:ext cx="2926080" cy="22860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r>
              <a:rPr b="1" u="sng" sz="850">
                <a:solidFill>
                  <a:srgbClr val="102A43"/>
                </a:solidFill>
                <a:latin typeface="Segoe UI"/>
              </a:rPr>
              <a:t>CONVENTIONAL         </a:t>
            </a:r>
            <a:r>
              <a:rPr b="1" u="sng" sz="850">
                <a:solidFill>
                  <a:srgbClr val="0284C7"/>
                </a:solidFill>
                <a:latin typeface="Segoe UI"/>
              </a:rPr>
              <a:t>POLAR-AI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1920240"/>
            <a:ext cx="29260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Static spreadsheets  →  0–100% Live health 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505456"/>
            <a:ext cx="2926080" cy="51206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Alerts after failure  →  Predicts 7–14 days ahead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3090672"/>
            <a:ext cx="29260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Isolated cargo delays  →  Cascading life-support trace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3675887"/>
            <a:ext cx="2926080" cy="512064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Manual guesswork  →  What-If scenario simulation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4261104"/>
            <a:ext cx="2926080" cy="5120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Fails when offline  →  100% Offline-first PWA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38928"/>
            <a:ext cx="11109960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138928"/>
            <a:ext cx="11109960" cy="292608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⭐  CORE USP: MISSION CONTINUITY INTELLIGENCE FOR EXTREME ENVIRONMENTS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49824"/>
            <a:ext cx="10744200" cy="27432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919" b="1">
                <a:solidFill>
                  <a:srgbClr val="102A43"/>
                </a:solidFill>
                <a:latin typeface="Segoe UI"/>
              </a:defRPr>
            </a:pPr>
            <a:r>
              <a:t>“POLAR-AI connects cargo, stock, assets, and weather to predict cascading failures and simulate mitigation options before shortages become life-critical.”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760720"/>
            <a:ext cx="3456432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DC2626"/>
                </a:solidFill>
                <a:latin typeface="Segoe UI"/>
              </a:defRPr>
            </a:pPr>
            <a:r>
              <a:t>1. CASCADING FAILURE TRACE</a:t>
            </a:r>
          </a:p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Fuel Shortage → Generator Trip → Station Heat Loss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0832" y="5760720"/>
            <a:ext cx="3456432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2. INTERACTIVE WHAT-IF ENGINE</a:t>
            </a:r>
          </a:p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Tests resupply delays &amp; rationing deltas before field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0144" y="5760720"/>
            <a:ext cx="3456432" cy="713232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  <a:latin typeface="Segoe UI"/>
              </a:defRPr>
            </a:pPr>
            <a:r>
              <a:t>3. 100% OFFLINE PWA &amp; HUMAN GATE</a:t>
            </a:r>
          </a:p>
          <a:p>
            <a:pPr algn="ctr">
              <a:defRPr sz="780">
                <a:solidFill>
                  <a:srgbClr val="102A43"/>
                </a:solidFill>
                <a:latin typeface="Segoe UI"/>
              </a:defRPr>
            </a:pPr>
            <a:r>
              <a:t>Zero-internet field autonomy; Commander retains final approval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